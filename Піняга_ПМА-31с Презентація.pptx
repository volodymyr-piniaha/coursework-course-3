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59" r:id="rId4"/>
    <p:sldId id="260" r:id="rId5"/>
    <p:sldId id="261" r:id="rId6"/>
    <p:sldId id="270" r:id="rId7"/>
    <p:sldId id="271" r:id="rId8"/>
    <p:sldId id="262" r:id="rId9"/>
    <p:sldId id="263" r:id="rId10"/>
    <p:sldId id="266" r:id="rId11"/>
    <p:sldId id="267" r:id="rId12"/>
    <p:sldId id="268" r:id="rId13"/>
    <p:sldId id="273" r:id="rId14"/>
    <p:sldId id="272" r:id="rId15"/>
    <p:sldId id="269" r:id="rId16"/>
    <p:sldId id="264" r:id="rId17"/>
    <p:sldId id="265" r:id="rId18"/>
  </p:sldIdLst>
  <p:sldSz cx="12192000" cy="6858000"/>
  <p:notesSz cx="6858000" cy="9144000"/>
  <p:defaultTextStyle>
    <a:defPPr rtl="0"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AE10CE4-0AEF-4BAF-A7E0-9658501A1783}" type="datetime1">
              <a:rPr lang="uk-UA" smtClean="0"/>
              <a:t>28.05.2024</a:t>
            </a:fld>
            <a:endParaRPr lang="en-US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E96D678-0CBC-4120-B2EA-DA48EA9EEA6C}" type="datetime1">
              <a:rPr lang="uk-UA" smtClean="0"/>
              <a:t>27.05.2024</a:t>
            </a:fld>
            <a:endParaRPr lang="en-US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uk"/>
              <a:t>Зразки заголовків</a:t>
            </a:r>
            <a:endParaRPr lang="en-US"/>
          </a:p>
          <a:p>
            <a:pPr lvl="1" rtl="0"/>
            <a:r>
              <a:rPr lang="uk"/>
              <a:t>Другий рівень</a:t>
            </a:r>
          </a:p>
          <a:p>
            <a:pPr lvl="2" rtl="0"/>
            <a:r>
              <a:rPr lang="uk"/>
              <a:t>Третій рівень</a:t>
            </a:r>
          </a:p>
          <a:p>
            <a:pPr lvl="3" rtl="0"/>
            <a:r>
              <a:rPr lang="uk"/>
              <a:t>Четвертий рівень</a:t>
            </a:r>
          </a:p>
          <a:p>
            <a:pPr lvl="4" rtl="0"/>
            <a:r>
              <a:rPr lang="uk"/>
              <a:t>П’ятий рівень</a:t>
            </a:r>
            <a:endParaRPr lang="en-US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uk-UA"/>
              <a:t>Клацніть, щоб редагувати стиль зразка підзаголовка</a:t>
            </a:r>
            <a:endParaRPr lang="en-US" dirty="0"/>
          </a:p>
        </p:txBody>
      </p:sp>
      <p:cxnSp>
        <p:nvCxnSpPr>
          <p:cNvPr id="9" name="Пряма сполучна лінія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D1EC39-490E-4AE8-92CB-DE9518FDD1BD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F0AF5F-7003-4DD2-8176-01461E5D019D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uk-UA"/>
              <a:t>Клацніть, щоб відредагувати стилі зразків тексту</a:t>
            </a:r>
          </a:p>
        </p:txBody>
      </p:sp>
      <p:cxnSp>
        <p:nvCxnSpPr>
          <p:cNvPr id="9" name="Пряма сполучна лінія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C50B06-0C76-4044-B569-A7DE6500F95B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Місце для номера слайда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елементи вміст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28E885-5816-420A-9D42-2FEF30285AD2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9" name="Місце для нижнього колонтитула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Місце для номера слайда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 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F90331-8470-4DAA-A3A0-CA149191E13B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11" name="Місце для нижнього колонтитула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Місце для номера слайда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6" name="Місце для дати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1C95A89-DE92-4CEC-84F2-B31945BCA6E4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7" name="Місце для нижнього колонтитула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Місце для номера слайда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кутник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1F2CEA-8735-4CB5-A8E4-796AAFC6E7DA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089DF9F9-C3E5-4342-B0AC-4484E4AF4438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Місце для номера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кутник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Місце для зображення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uk-UA"/>
              <a:t>Клацніть піктограму, щоб додати зображення</a:t>
            </a:r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B7FA476F-E2E0-4285-BE13-EC00DD3E8A1C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6" name="Місце для нижнього колонтитула 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44A78F6-72DB-416E-B2B1-9040BCAD9E9D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кутник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ий заголовок 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uk-UA"/>
              <a:t>Клацніть, щоб редагувати стиль зразка заголовка</a:t>
            </a:r>
            <a:endParaRPr lang="en-US" dirty="0"/>
          </a:p>
        </p:txBody>
      </p:sp>
      <p:sp>
        <p:nvSpPr>
          <p:cNvPr id="3" name="Місце для вертикального тексту 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uk-UA"/>
              <a:t>Клацніть, щоб відредагувати стилі зразків тексту</a:t>
            </a:r>
          </a:p>
          <a:p>
            <a:pPr lvl="1" rtl="0"/>
            <a:r>
              <a:rPr lang="uk-UA"/>
              <a:t>Другий рівень</a:t>
            </a:r>
          </a:p>
          <a:p>
            <a:pPr lvl="2" rtl="0"/>
            <a:r>
              <a:rPr lang="uk-UA"/>
              <a:t>Третій рівень</a:t>
            </a:r>
          </a:p>
          <a:p>
            <a:pPr lvl="3" rtl="0"/>
            <a:r>
              <a:rPr lang="uk-UA"/>
              <a:t>Четвертий рівень</a:t>
            </a:r>
          </a:p>
          <a:p>
            <a:pPr lvl="4" rtl="0"/>
            <a:r>
              <a:rPr lang="uk-UA"/>
              <a:t>П’ятий рівень</a:t>
            </a:r>
            <a:endParaRPr lang="en-US" dirty="0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B12714-5B97-4F13-9792-6D53EADE4894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Місце для номера слайда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кутник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uk" dirty="0"/>
              <a:t>Зразок заголовка</a:t>
            </a:r>
            <a:endParaRPr lang="en-US" dirty="0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uk" dirty="0"/>
              <a:t>Зразки заголовків</a:t>
            </a:r>
          </a:p>
          <a:p>
            <a:pPr lvl="1" rtl="0"/>
            <a:r>
              <a:rPr lang="uk" dirty="0"/>
              <a:t>Другий рівень</a:t>
            </a:r>
          </a:p>
          <a:p>
            <a:pPr lvl="2" rtl="0"/>
            <a:r>
              <a:rPr lang="uk" dirty="0"/>
              <a:t>Третій рівень</a:t>
            </a:r>
          </a:p>
          <a:p>
            <a:pPr lvl="3" rtl="0"/>
            <a:r>
              <a:rPr lang="uk" dirty="0"/>
              <a:t>Четвертий рівень</a:t>
            </a:r>
          </a:p>
          <a:p>
            <a:pPr lvl="4" rtl="0"/>
            <a:r>
              <a:rPr lang="uk" dirty="0"/>
              <a:t>П’ятий рівень</a:t>
            </a:r>
            <a:endParaRPr lang="en-US" dirty="0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72DE5ED-A30D-4234-8893-A9691FA5F80E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‹№›</a:t>
            </a:fld>
            <a:endParaRPr lang="en-US" dirty="0"/>
          </a:p>
        </p:txBody>
      </p:sp>
      <p:cxnSp>
        <p:nvCxnSpPr>
          <p:cNvPr id="10" name="Пряма сполучна лінія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Прямокутник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902246" cy="3686015"/>
          </a:xfrm>
        </p:spPr>
        <p:txBody>
          <a:bodyPr rtlCol="0">
            <a:noAutofit/>
          </a:bodyPr>
          <a:lstStyle/>
          <a:p>
            <a:pPr rtl="0"/>
            <a:r>
              <a:rPr lang="uk" sz="6600" dirty="0"/>
              <a:t>Розробка веб платформи для проведення </a:t>
            </a:r>
            <a:r>
              <a:rPr lang="en-US" sz="6600" dirty="0"/>
              <a:t>IT</a:t>
            </a:r>
            <a:r>
              <a:rPr lang="uk-UA" sz="6600" dirty="0"/>
              <a:t>-курсів</a:t>
            </a:r>
            <a:endParaRPr lang="uk" sz="6600" dirty="0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03233" y="4498926"/>
            <a:ext cx="5374432" cy="2359074"/>
          </a:xfrm>
        </p:spPr>
        <p:txBody>
          <a:bodyPr rtlCol="0">
            <a:normAutofit/>
          </a:bodyPr>
          <a:lstStyle/>
          <a:p>
            <a:pPr rtl="0"/>
            <a:r>
              <a:rPr lang="uk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Виконав: </a:t>
            </a:r>
            <a:br>
              <a:rPr lang="uk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uk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студент 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 курсу, </a:t>
            </a:r>
            <a:r>
              <a:rPr lang="ru-RU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групи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Пма-31, </a:t>
            </a:r>
            <a:r>
              <a:rPr lang="ru-RU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напряму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підготовки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системний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ru-RU" sz="1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аналіз</a:t>
            </a: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b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ru-RU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Піняга Володимир Михайлович</a:t>
            </a:r>
            <a:endParaRPr lang="uk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rtl="0"/>
            <a:r>
              <a:rPr lang="uk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Керівник: доц. А. В. Мельничин </a:t>
            </a:r>
            <a:endParaRPr lang="ru-RU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Рисунок 4" descr="Зображення опис якого включає слова: будівля, сидіти, лавка, збоку&#10;&#10;Автоматично створений опис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Пряма сполучна лінія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353027-F3D0-FCDC-C998-05A4E46E1F02}"/>
              </a:ext>
            </a:extLst>
          </p:cNvPr>
          <p:cNvSpPr txBox="1"/>
          <p:nvPr/>
        </p:nvSpPr>
        <p:spPr>
          <a:xfrm>
            <a:off x="4945224" y="6092890"/>
            <a:ext cx="13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/>
              <a:t>Львів-2024</a:t>
            </a: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956967-1C32-57F3-A7FE-8A39C545A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Проблема та постановка задачі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DDD711-4BD3-7E8B-219B-47719B415851}"/>
              </a:ext>
            </a:extLst>
          </p:cNvPr>
          <p:cNvSpPr txBox="1"/>
          <p:nvPr/>
        </p:nvSpPr>
        <p:spPr>
          <a:xfrm>
            <a:off x="671804" y="2211355"/>
            <a:ext cx="18618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/>
              <a:t>Мета роботи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68860D-3FBC-B58A-807F-63B49FD9BE20}"/>
              </a:ext>
            </a:extLst>
          </p:cNvPr>
          <p:cNvSpPr txBox="1"/>
          <p:nvPr/>
        </p:nvSpPr>
        <p:spPr>
          <a:xfrm>
            <a:off x="4525347" y="2295331"/>
            <a:ext cx="27399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/>
              <a:t>Об’єкт дослідження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960AB4-BF1D-8350-7AAA-6EAFA95A6BA2}"/>
              </a:ext>
            </a:extLst>
          </p:cNvPr>
          <p:cNvSpPr txBox="1"/>
          <p:nvPr/>
        </p:nvSpPr>
        <p:spPr>
          <a:xfrm>
            <a:off x="8360229" y="2211355"/>
            <a:ext cx="30525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2400" dirty="0"/>
              <a:t>Предмет дослідження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F8F8C3-797F-273A-B09F-42CE4CCDE017}"/>
              </a:ext>
            </a:extLst>
          </p:cNvPr>
          <p:cNvSpPr txBox="1"/>
          <p:nvPr/>
        </p:nvSpPr>
        <p:spPr>
          <a:xfrm>
            <a:off x="326572" y="2815578"/>
            <a:ext cx="37042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400" dirty="0"/>
              <a:t>Розробка веб платформи для проведення </a:t>
            </a:r>
            <a:r>
              <a:rPr lang="en-US" sz="2400" dirty="0"/>
              <a:t>IT-</a:t>
            </a:r>
            <a:r>
              <a:rPr lang="uk-UA" sz="2400" dirty="0"/>
              <a:t>курсів, що забезпечило б безперервний онлайн доступ для </a:t>
            </a:r>
            <a:r>
              <a:rPr lang="uk-UA" sz="2400"/>
              <a:t>вивчання курсів на </a:t>
            </a:r>
            <a:r>
              <a:rPr lang="uk-UA" sz="2400" dirty="0"/>
              <a:t>різну тематику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A1A31-719A-6F31-357C-7BF2C320EC30}"/>
              </a:ext>
            </a:extLst>
          </p:cNvPr>
          <p:cNvSpPr txBox="1"/>
          <p:nvPr/>
        </p:nvSpPr>
        <p:spPr>
          <a:xfrm>
            <a:off x="4357396" y="2991801"/>
            <a:ext cx="35456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400" dirty="0"/>
              <a:t>Процес онлайн навчання для студентів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22A08D-2C81-26CA-CA99-52AE40E03910}"/>
              </a:ext>
            </a:extLst>
          </p:cNvPr>
          <p:cNvSpPr txBox="1"/>
          <p:nvPr/>
        </p:nvSpPr>
        <p:spPr>
          <a:xfrm>
            <a:off x="8161178" y="2673019"/>
            <a:ext cx="37831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400" dirty="0"/>
              <a:t>Впровадження норми викладання онлайн курсів з різних тем у процес навчання студентів</a:t>
            </a:r>
          </a:p>
        </p:txBody>
      </p:sp>
    </p:spTree>
    <p:extLst>
      <p:ext uri="{BB962C8B-B14F-4D97-AF65-F5344CB8AC3E}">
        <p14:creationId xmlns:p14="http://schemas.microsoft.com/office/powerpoint/2010/main" val="306589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865A07-E232-BDC7-6533-C885BAFD0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Архітектура системи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FA0A2E-46FF-196A-F62A-512A723D9AC4}"/>
              </a:ext>
            </a:extLst>
          </p:cNvPr>
          <p:cNvSpPr txBox="1"/>
          <p:nvPr/>
        </p:nvSpPr>
        <p:spPr>
          <a:xfrm>
            <a:off x="1004915" y="2239347"/>
            <a:ext cx="436951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Модель (Model) -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зберігання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даних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та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визначення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структури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.</a:t>
            </a:r>
            <a:endParaRPr lang="ru-RU" sz="2000" b="0" dirty="0">
              <a:effectLst/>
            </a:endParaRPr>
          </a:p>
          <a:p>
            <a:pPr algn="just"/>
            <a:br>
              <a:rPr lang="ru-RU" sz="2000" dirty="0"/>
            </a:br>
            <a:endParaRPr lang="uk-UA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3D210B-EFEE-4372-99B2-6200074472A3}"/>
              </a:ext>
            </a:extLst>
          </p:cNvPr>
          <p:cNvSpPr txBox="1"/>
          <p:nvPr/>
        </p:nvSpPr>
        <p:spPr>
          <a:xfrm>
            <a:off x="1097280" y="3429000"/>
            <a:ext cx="36893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Вигляд (</a:t>
            </a:r>
            <a:r>
              <a:rPr lang="en-US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View) - </a:t>
            </a:r>
            <a:r>
              <a:rPr lang="uk-UA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інтерфейс програми.</a:t>
            </a:r>
            <a:endParaRPr lang="uk-UA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85E289-40B8-B974-72C5-064535CD8468}"/>
              </a:ext>
            </a:extLst>
          </p:cNvPr>
          <p:cNvSpPr txBox="1"/>
          <p:nvPr/>
        </p:nvSpPr>
        <p:spPr>
          <a:xfrm>
            <a:off x="1004915" y="4372550"/>
            <a:ext cx="4730267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Контролер (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Controller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) -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керування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над компонентами,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отримує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сигнали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від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дій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користувача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і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передає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ru-RU" sz="2000" b="0" i="0" u="none" strike="noStrike" dirty="0" err="1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їх</a:t>
            </a:r>
            <a:r>
              <a:rPr lang="ru-RU" sz="20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 у модель.</a:t>
            </a:r>
            <a:endParaRPr lang="ru-RU" sz="2000" b="0" dirty="0">
              <a:effectLst/>
            </a:endParaRPr>
          </a:p>
          <a:p>
            <a:br>
              <a:rPr lang="ru-RU" dirty="0"/>
            </a:br>
            <a:endParaRPr lang="uk-UA" dirty="0"/>
          </a:p>
        </p:txBody>
      </p:sp>
      <p:pic>
        <p:nvPicPr>
          <p:cNvPr id="10" name="Рисунок 9" descr="Зображення, що містить текст, знімок екрана, схема, Шрифт&#10;&#10;Автоматично згенерований опис">
            <a:extLst>
              <a:ext uri="{FF2B5EF4-FFF2-40B4-BE49-F238E27FC236}">
                <a16:creationId xmlns:a16="http://schemas.microsoft.com/office/drawing/2014/main" id="{0C01B34C-24C3-A5A5-0415-A652B95B0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454" y="2239347"/>
            <a:ext cx="4013565" cy="377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272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194B05-4299-69C3-417F-4FE156820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uk-UA" dirty="0"/>
              <a:t>Існуючі платформи</a:t>
            </a:r>
          </a:p>
        </p:txBody>
      </p:sp>
      <p:pic>
        <p:nvPicPr>
          <p:cNvPr id="1026" name="Picture 2" descr="Coursera | Degrees, Certificates, &amp; Free Online Courses">
            <a:extLst>
              <a:ext uri="{FF2B5EF4-FFF2-40B4-BE49-F238E27FC236}">
                <a16:creationId xmlns:a16="http://schemas.microsoft.com/office/drawing/2014/main" id="{A49175BB-8589-6DBB-4C09-CBB6577944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105" y="2030867"/>
            <a:ext cx="2952750" cy="2952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demy – один из самых популярных образовательных онлайн-ресурсов –  MOLDOSANOV.COM">
            <a:extLst>
              <a:ext uri="{FF2B5EF4-FFF2-40B4-BE49-F238E27FC236}">
                <a16:creationId xmlns:a16="http://schemas.microsoft.com/office/drawing/2014/main" id="{D7703066-C374-A31A-AD74-191521AD3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8566" y="2179718"/>
            <a:ext cx="4040576" cy="2124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luralsight | Utah Valley University">
            <a:extLst>
              <a:ext uri="{FF2B5EF4-FFF2-40B4-BE49-F238E27FC236}">
                <a16:creationId xmlns:a16="http://schemas.microsoft.com/office/drawing/2014/main" id="{2638D7AC-C0F4-41DE-8816-4CE19CA99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050" y="2242166"/>
            <a:ext cx="3332778" cy="19996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073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FD7B5-F74F-BD9A-B45A-FA5DE30D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Використані технології</a:t>
            </a:r>
          </a:p>
        </p:txBody>
      </p:sp>
      <p:pic>
        <p:nvPicPr>
          <p:cNvPr id="2050" name="Picture 2" descr="SPBDEV Blog - Авторизация на основе установленных правил в ASP.NET Core -  глубокое погружение">
            <a:extLst>
              <a:ext uri="{FF2B5EF4-FFF2-40B4-BE49-F238E27FC236}">
                <a16:creationId xmlns:a16="http://schemas.microsoft.com/office/drawing/2014/main" id="{73E76B22-29CF-1084-53E4-DBDADD563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0" y="2152650"/>
            <a:ext cx="27432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Reusable Asset: N-Tier Pattern">
            <a:extLst>
              <a:ext uri="{FF2B5EF4-FFF2-40B4-BE49-F238E27FC236}">
                <a16:creationId xmlns:a16="http://schemas.microsoft.com/office/drawing/2014/main" id="{2D961D5C-AC22-6E2D-24F5-ADA645F82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152650"/>
            <a:ext cx="271462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Общие сведения ASP.NET Core MVC | Microsoft Learn">
            <a:extLst>
              <a:ext uri="{FF2B5EF4-FFF2-40B4-BE49-F238E27FC236}">
                <a16:creationId xmlns:a16="http://schemas.microsoft.com/office/drawing/2014/main" id="{266C9CE0-67C3-6EC1-09A9-6144261F82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6862" y="2152650"/>
            <a:ext cx="2181225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Рисунок 3" descr="Зображення, що містить текст, знімок екрана, символ, Шрифт&#10;&#10;Автоматично згенерований опис">
            <a:extLst>
              <a:ext uri="{FF2B5EF4-FFF2-40B4-BE49-F238E27FC236}">
                <a16:creationId xmlns:a16="http://schemas.microsoft.com/office/drawing/2014/main" id="{C2FDFBAA-F0EE-F81B-244D-F8EEDF50CD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620" y="4663440"/>
            <a:ext cx="4239260" cy="131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890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8C836EB-1958-B1F5-0FB6-4043F4787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1F2CEA-8735-4CB5-A8E4-796AAFC6E7DA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3" name="Прямокутник 2">
            <a:extLst>
              <a:ext uri="{FF2B5EF4-FFF2-40B4-BE49-F238E27FC236}">
                <a16:creationId xmlns:a16="http://schemas.microsoft.com/office/drawing/2014/main" id="{7EC5E497-5773-CC53-3139-22AED54C709E}"/>
              </a:ext>
            </a:extLst>
          </p:cNvPr>
          <p:cNvSpPr/>
          <p:nvPr/>
        </p:nvSpPr>
        <p:spPr>
          <a:xfrm>
            <a:off x="95250" y="1609725"/>
            <a:ext cx="733425" cy="30930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" name="Прямокутник 3">
            <a:extLst>
              <a:ext uri="{FF2B5EF4-FFF2-40B4-BE49-F238E27FC236}">
                <a16:creationId xmlns:a16="http://schemas.microsoft.com/office/drawing/2014/main" id="{3F32D046-7163-1ED8-0115-6517057F138F}"/>
              </a:ext>
            </a:extLst>
          </p:cNvPr>
          <p:cNvSpPr/>
          <p:nvPr/>
        </p:nvSpPr>
        <p:spPr>
          <a:xfrm rot="5400000">
            <a:off x="1919287" y="3300414"/>
            <a:ext cx="733425" cy="2343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" name="Прямокутник 4">
            <a:extLst>
              <a:ext uri="{FF2B5EF4-FFF2-40B4-BE49-F238E27FC236}">
                <a16:creationId xmlns:a16="http://schemas.microsoft.com/office/drawing/2014/main" id="{A99513D4-120B-A26D-79E3-3EE95685CA58}"/>
              </a:ext>
            </a:extLst>
          </p:cNvPr>
          <p:cNvSpPr/>
          <p:nvPr/>
        </p:nvSpPr>
        <p:spPr>
          <a:xfrm rot="5400000">
            <a:off x="1919287" y="1885950"/>
            <a:ext cx="733425" cy="2343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6" name="Прямокутник 5">
            <a:extLst>
              <a:ext uri="{FF2B5EF4-FFF2-40B4-BE49-F238E27FC236}">
                <a16:creationId xmlns:a16="http://schemas.microsoft.com/office/drawing/2014/main" id="{72570024-C26D-3796-89E0-39BFD45CA4B3}"/>
              </a:ext>
            </a:extLst>
          </p:cNvPr>
          <p:cNvSpPr/>
          <p:nvPr/>
        </p:nvSpPr>
        <p:spPr>
          <a:xfrm rot="5400000">
            <a:off x="1919287" y="657225"/>
            <a:ext cx="733425" cy="23431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sz="1400" dirty="0">
              <a:solidFill>
                <a:schemeClr val="tx1"/>
              </a:solidFill>
            </a:endParaRPr>
          </a:p>
        </p:txBody>
      </p:sp>
      <p:cxnSp>
        <p:nvCxnSpPr>
          <p:cNvPr id="8" name="Пряма зі стрілкою 7">
            <a:extLst>
              <a:ext uri="{FF2B5EF4-FFF2-40B4-BE49-F238E27FC236}">
                <a16:creationId xmlns:a16="http://schemas.microsoft.com/office/drawing/2014/main" id="{0A0693AE-69F9-6D6D-9612-9124E1D6DFFB}"/>
              </a:ext>
            </a:extLst>
          </p:cNvPr>
          <p:cNvCxnSpPr/>
          <p:nvPr/>
        </p:nvCxnSpPr>
        <p:spPr>
          <a:xfrm flipV="1">
            <a:off x="828675" y="2195513"/>
            <a:ext cx="285749" cy="3667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 зі стрілкою 9">
            <a:extLst>
              <a:ext uri="{FF2B5EF4-FFF2-40B4-BE49-F238E27FC236}">
                <a16:creationId xmlns:a16="http://schemas.microsoft.com/office/drawing/2014/main" id="{808A08AF-938F-E704-1DEA-1C1A68734A46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828675" y="3114675"/>
            <a:ext cx="361950" cy="41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 зі стрілкою 11">
            <a:extLst>
              <a:ext uri="{FF2B5EF4-FFF2-40B4-BE49-F238E27FC236}">
                <a16:creationId xmlns:a16="http://schemas.microsoft.com/office/drawing/2014/main" id="{C024EC15-D2C5-F7CF-99FD-7A7EA01AE00B}"/>
              </a:ext>
            </a:extLst>
          </p:cNvPr>
          <p:cNvCxnSpPr>
            <a:endCxn id="4" idx="2"/>
          </p:cNvCxnSpPr>
          <p:nvPr/>
        </p:nvCxnSpPr>
        <p:spPr>
          <a:xfrm>
            <a:off x="828675" y="4286250"/>
            <a:ext cx="285750" cy="1857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4C5AB3A-8EC5-0DAC-E892-1F04CBBEE8A2}"/>
              </a:ext>
            </a:extLst>
          </p:cNvPr>
          <p:cNvSpPr txBox="1"/>
          <p:nvPr/>
        </p:nvSpPr>
        <p:spPr>
          <a:xfrm>
            <a:off x="1471611" y="2765137"/>
            <a:ext cx="1657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Utility</a:t>
            </a:r>
            <a:endParaRPr lang="uk-UA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E45D7BC-0D68-0253-AC6C-501DD6EA1869}"/>
              </a:ext>
            </a:extLst>
          </p:cNvPr>
          <p:cNvSpPr txBox="1"/>
          <p:nvPr/>
        </p:nvSpPr>
        <p:spPr>
          <a:xfrm>
            <a:off x="1400172" y="1501707"/>
            <a:ext cx="18002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Models</a:t>
            </a:r>
            <a:endParaRPr lang="uk-UA" sz="3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C3E379-017A-8FC5-DC07-2BCEB25172CB}"/>
              </a:ext>
            </a:extLst>
          </p:cNvPr>
          <p:cNvSpPr txBox="1"/>
          <p:nvPr/>
        </p:nvSpPr>
        <p:spPr>
          <a:xfrm>
            <a:off x="1381122" y="4241157"/>
            <a:ext cx="18002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DataAccess</a:t>
            </a:r>
            <a:endParaRPr lang="uk-UA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55AC40-292B-C332-E637-DD13951C9CF9}"/>
              </a:ext>
            </a:extLst>
          </p:cNvPr>
          <p:cNvSpPr txBox="1"/>
          <p:nvPr/>
        </p:nvSpPr>
        <p:spPr>
          <a:xfrm>
            <a:off x="190501" y="1591181"/>
            <a:ext cx="5048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Website</a:t>
            </a:r>
            <a:endParaRPr lang="uk-UA" sz="3200" dirty="0"/>
          </a:p>
        </p:txBody>
      </p:sp>
      <p:cxnSp>
        <p:nvCxnSpPr>
          <p:cNvPr id="20" name="Пряма зі стрілкою 19">
            <a:extLst>
              <a:ext uri="{FF2B5EF4-FFF2-40B4-BE49-F238E27FC236}">
                <a16:creationId xmlns:a16="http://schemas.microsoft.com/office/drawing/2014/main" id="{4F798AE9-FEDE-3AFB-C399-8954A5E484F9}"/>
              </a:ext>
            </a:extLst>
          </p:cNvPr>
          <p:cNvCxnSpPr/>
          <p:nvPr/>
        </p:nvCxnSpPr>
        <p:spPr>
          <a:xfrm>
            <a:off x="581025" y="4702822"/>
            <a:ext cx="428625" cy="593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Прямокутник 20">
            <a:extLst>
              <a:ext uri="{FF2B5EF4-FFF2-40B4-BE49-F238E27FC236}">
                <a16:creationId xmlns:a16="http://schemas.microsoft.com/office/drawing/2014/main" id="{D04120D6-6DD2-3706-0196-999A07183096}"/>
              </a:ext>
            </a:extLst>
          </p:cNvPr>
          <p:cNvSpPr/>
          <p:nvPr/>
        </p:nvSpPr>
        <p:spPr>
          <a:xfrm>
            <a:off x="1033461" y="5126685"/>
            <a:ext cx="2586039" cy="84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6B79D3E-F0EA-E7AA-20BA-BAB9955C248A}"/>
              </a:ext>
            </a:extLst>
          </p:cNvPr>
          <p:cNvSpPr txBox="1"/>
          <p:nvPr/>
        </p:nvSpPr>
        <p:spPr>
          <a:xfrm>
            <a:off x="1085847" y="5295900"/>
            <a:ext cx="2428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/>
              <a:t>Website.Courses</a:t>
            </a:r>
            <a:endParaRPr lang="uk-UA" sz="2400" dirty="0"/>
          </a:p>
        </p:txBody>
      </p:sp>
      <p:cxnSp>
        <p:nvCxnSpPr>
          <p:cNvPr id="24" name="Пряма зі стрілкою 23">
            <a:extLst>
              <a:ext uri="{FF2B5EF4-FFF2-40B4-BE49-F238E27FC236}">
                <a16:creationId xmlns:a16="http://schemas.microsoft.com/office/drawing/2014/main" id="{DC2DB020-7942-45A7-8383-93EE3473870A}"/>
              </a:ext>
            </a:extLst>
          </p:cNvPr>
          <p:cNvCxnSpPr>
            <a:cxnSpLocks/>
          </p:cNvCxnSpPr>
          <p:nvPr/>
        </p:nvCxnSpPr>
        <p:spPr>
          <a:xfrm flipV="1">
            <a:off x="3514722" y="990600"/>
            <a:ext cx="666753" cy="600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 зі стрілкою 26">
            <a:extLst>
              <a:ext uri="{FF2B5EF4-FFF2-40B4-BE49-F238E27FC236}">
                <a16:creationId xmlns:a16="http://schemas.microsoft.com/office/drawing/2014/main" id="{3F9599AC-502B-9B1D-9C33-BC62EE8AFF09}"/>
              </a:ext>
            </a:extLst>
          </p:cNvPr>
          <p:cNvCxnSpPr>
            <a:stCxn id="6" idx="0"/>
          </p:cNvCxnSpPr>
          <p:nvPr/>
        </p:nvCxnSpPr>
        <p:spPr>
          <a:xfrm flipV="1">
            <a:off x="3457575" y="1609725"/>
            <a:ext cx="942975" cy="219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Пряма зі стрілкою 28">
            <a:extLst>
              <a:ext uri="{FF2B5EF4-FFF2-40B4-BE49-F238E27FC236}">
                <a16:creationId xmlns:a16="http://schemas.microsoft.com/office/drawing/2014/main" id="{04C6CEAC-0592-A899-EA60-5E499E3CD87F}"/>
              </a:ext>
            </a:extLst>
          </p:cNvPr>
          <p:cNvCxnSpPr>
            <a:stCxn id="5" idx="0"/>
          </p:cNvCxnSpPr>
          <p:nvPr/>
        </p:nvCxnSpPr>
        <p:spPr>
          <a:xfrm flipV="1">
            <a:off x="3457575" y="3038475"/>
            <a:ext cx="876300" cy="190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 зі стрілкою 30">
            <a:extLst>
              <a:ext uri="{FF2B5EF4-FFF2-40B4-BE49-F238E27FC236}">
                <a16:creationId xmlns:a16="http://schemas.microsoft.com/office/drawing/2014/main" id="{B7CEEE45-D1B1-97F4-F9EA-7591B59F7D06}"/>
              </a:ext>
            </a:extLst>
          </p:cNvPr>
          <p:cNvCxnSpPr>
            <a:stCxn id="4" idx="0"/>
          </p:cNvCxnSpPr>
          <p:nvPr/>
        </p:nvCxnSpPr>
        <p:spPr>
          <a:xfrm flipV="1">
            <a:off x="3457575" y="4400550"/>
            <a:ext cx="942975" cy="71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 зі стрілкою 32">
            <a:extLst>
              <a:ext uri="{FF2B5EF4-FFF2-40B4-BE49-F238E27FC236}">
                <a16:creationId xmlns:a16="http://schemas.microsoft.com/office/drawing/2014/main" id="{0DB2CA3A-AF5E-938A-BA37-3E9F83EEC293}"/>
              </a:ext>
            </a:extLst>
          </p:cNvPr>
          <p:cNvCxnSpPr>
            <a:stCxn id="4" idx="0"/>
          </p:cNvCxnSpPr>
          <p:nvPr/>
        </p:nvCxnSpPr>
        <p:spPr>
          <a:xfrm flipV="1">
            <a:off x="3457575" y="4029075"/>
            <a:ext cx="942975" cy="442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 зі стрілкою 34">
            <a:extLst>
              <a:ext uri="{FF2B5EF4-FFF2-40B4-BE49-F238E27FC236}">
                <a16:creationId xmlns:a16="http://schemas.microsoft.com/office/drawing/2014/main" id="{5461C601-69B7-32D7-3763-5B7721CA9397}"/>
              </a:ext>
            </a:extLst>
          </p:cNvPr>
          <p:cNvCxnSpPr>
            <a:stCxn id="21" idx="3"/>
          </p:cNvCxnSpPr>
          <p:nvPr/>
        </p:nvCxnSpPr>
        <p:spPr>
          <a:xfrm>
            <a:off x="3619500" y="5547682"/>
            <a:ext cx="561975" cy="5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Прямокутник 35">
            <a:extLst>
              <a:ext uri="{FF2B5EF4-FFF2-40B4-BE49-F238E27FC236}">
                <a16:creationId xmlns:a16="http://schemas.microsoft.com/office/drawing/2014/main" id="{77AE79FB-8B91-422C-B52F-A262B480902D}"/>
              </a:ext>
            </a:extLst>
          </p:cNvPr>
          <p:cNvSpPr/>
          <p:nvPr/>
        </p:nvSpPr>
        <p:spPr>
          <a:xfrm>
            <a:off x="4248150" y="5126685"/>
            <a:ext cx="2238375" cy="841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Areas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37" name="Прямокутник 36">
            <a:extLst>
              <a:ext uri="{FF2B5EF4-FFF2-40B4-BE49-F238E27FC236}">
                <a16:creationId xmlns:a16="http://schemas.microsoft.com/office/drawing/2014/main" id="{53E6AE5B-4DB6-87D4-8BB7-5532B4134A03}"/>
              </a:ext>
            </a:extLst>
          </p:cNvPr>
          <p:cNvSpPr/>
          <p:nvPr/>
        </p:nvSpPr>
        <p:spPr>
          <a:xfrm>
            <a:off x="4181475" y="400051"/>
            <a:ext cx="2238375" cy="572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Models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38" name="Прямокутник 37">
            <a:extLst>
              <a:ext uri="{FF2B5EF4-FFF2-40B4-BE49-F238E27FC236}">
                <a16:creationId xmlns:a16="http://schemas.microsoft.com/office/drawing/2014/main" id="{125CD748-590A-0A83-FE7D-B6ABD1421756}"/>
              </a:ext>
            </a:extLst>
          </p:cNvPr>
          <p:cNvSpPr/>
          <p:nvPr/>
        </p:nvSpPr>
        <p:spPr>
          <a:xfrm>
            <a:off x="4400550" y="1462087"/>
            <a:ext cx="1914525" cy="572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ViewModels</a:t>
            </a:r>
            <a:endParaRPr lang="uk-UA"/>
          </a:p>
        </p:txBody>
      </p:sp>
      <p:sp>
        <p:nvSpPr>
          <p:cNvPr id="39" name="Прямокутник 38">
            <a:extLst>
              <a:ext uri="{FF2B5EF4-FFF2-40B4-BE49-F238E27FC236}">
                <a16:creationId xmlns:a16="http://schemas.microsoft.com/office/drawing/2014/main" id="{2E0ADD15-2CC5-7296-F179-DFCA200EC10B}"/>
              </a:ext>
            </a:extLst>
          </p:cNvPr>
          <p:cNvSpPr/>
          <p:nvPr/>
        </p:nvSpPr>
        <p:spPr>
          <a:xfrm>
            <a:off x="4333875" y="2719638"/>
            <a:ext cx="1914525" cy="572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SD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40" name="Прямокутник 39">
            <a:extLst>
              <a:ext uri="{FF2B5EF4-FFF2-40B4-BE49-F238E27FC236}">
                <a16:creationId xmlns:a16="http://schemas.microsoft.com/office/drawing/2014/main" id="{248962DD-13D2-7D77-3CDB-20097E7EC570}"/>
              </a:ext>
            </a:extLst>
          </p:cNvPr>
          <p:cNvSpPr/>
          <p:nvPr/>
        </p:nvSpPr>
        <p:spPr>
          <a:xfrm>
            <a:off x="4400550" y="3457070"/>
            <a:ext cx="1914525" cy="572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Data/Migrations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41" name="Прямокутник 40">
            <a:extLst>
              <a:ext uri="{FF2B5EF4-FFF2-40B4-BE49-F238E27FC236}">
                <a16:creationId xmlns:a16="http://schemas.microsoft.com/office/drawing/2014/main" id="{4FBF2A24-3687-63F6-13A2-577638EF6644}"/>
              </a:ext>
            </a:extLst>
          </p:cNvPr>
          <p:cNvSpPr/>
          <p:nvPr/>
        </p:nvSpPr>
        <p:spPr>
          <a:xfrm>
            <a:off x="4410074" y="4150267"/>
            <a:ext cx="1914525" cy="572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Repository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42" name="Прямокутник 41">
            <a:extLst>
              <a:ext uri="{FF2B5EF4-FFF2-40B4-BE49-F238E27FC236}">
                <a16:creationId xmlns:a16="http://schemas.microsoft.com/office/drawing/2014/main" id="{665B894F-F6F8-CE61-FD49-9F90160C8239}"/>
              </a:ext>
            </a:extLst>
          </p:cNvPr>
          <p:cNvSpPr/>
          <p:nvPr/>
        </p:nvSpPr>
        <p:spPr>
          <a:xfrm>
            <a:off x="6553200" y="5682675"/>
            <a:ext cx="2238375" cy="572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Customer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43" name="Прямокутник 42">
            <a:extLst>
              <a:ext uri="{FF2B5EF4-FFF2-40B4-BE49-F238E27FC236}">
                <a16:creationId xmlns:a16="http://schemas.microsoft.com/office/drawing/2014/main" id="{E090BC26-BC10-F9A5-25AF-2EEB86C62F30}"/>
              </a:ext>
            </a:extLst>
          </p:cNvPr>
          <p:cNvSpPr/>
          <p:nvPr/>
        </p:nvSpPr>
        <p:spPr>
          <a:xfrm>
            <a:off x="6553200" y="4581020"/>
            <a:ext cx="2238375" cy="572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Admin</a:t>
            </a:r>
            <a:endParaRPr lang="uk-UA" dirty="0">
              <a:solidFill>
                <a:schemeClr val="tx1"/>
              </a:solidFill>
            </a:endParaRPr>
          </a:p>
        </p:txBody>
      </p:sp>
      <p:cxnSp>
        <p:nvCxnSpPr>
          <p:cNvPr id="45" name="Пряма зі стрілкою 44">
            <a:extLst>
              <a:ext uri="{FF2B5EF4-FFF2-40B4-BE49-F238E27FC236}">
                <a16:creationId xmlns:a16="http://schemas.microsoft.com/office/drawing/2014/main" id="{038A449A-60F0-D51B-AE6C-930C28F24A46}"/>
              </a:ext>
            </a:extLst>
          </p:cNvPr>
          <p:cNvCxnSpPr/>
          <p:nvPr/>
        </p:nvCxnSpPr>
        <p:spPr>
          <a:xfrm flipV="1">
            <a:off x="8372475" y="4029075"/>
            <a:ext cx="800100" cy="551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Пряма зі стрілкою 46">
            <a:extLst>
              <a:ext uri="{FF2B5EF4-FFF2-40B4-BE49-F238E27FC236}">
                <a16:creationId xmlns:a16="http://schemas.microsoft.com/office/drawing/2014/main" id="{73BE5C6E-BC74-1255-8E2C-1A5CDA5171D9}"/>
              </a:ext>
            </a:extLst>
          </p:cNvPr>
          <p:cNvCxnSpPr>
            <a:stCxn id="43" idx="3"/>
          </p:cNvCxnSpPr>
          <p:nvPr/>
        </p:nvCxnSpPr>
        <p:spPr>
          <a:xfrm flipV="1">
            <a:off x="8791575" y="4581020"/>
            <a:ext cx="719276" cy="2860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Пряма зі стрілкою 48">
            <a:extLst>
              <a:ext uri="{FF2B5EF4-FFF2-40B4-BE49-F238E27FC236}">
                <a16:creationId xmlns:a16="http://schemas.microsoft.com/office/drawing/2014/main" id="{9F1D5B0A-DB73-8C2F-40ED-5CA579F4ABCA}"/>
              </a:ext>
            </a:extLst>
          </p:cNvPr>
          <p:cNvCxnSpPr>
            <a:stCxn id="42" idx="3"/>
          </p:cNvCxnSpPr>
          <p:nvPr/>
        </p:nvCxnSpPr>
        <p:spPr>
          <a:xfrm flipV="1">
            <a:off x="8791575" y="5526732"/>
            <a:ext cx="904875" cy="441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 зі стрілкою 50">
            <a:extLst>
              <a:ext uri="{FF2B5EF4-FFF2-40B4-BE49-F238E27FC236}">
                <a16:creationId xmlns:a16="http://schemas.microsoft.com/office/drawing/2014/main" id="{82E61DA6-27A6-CABE-55B9-531176973FE5}"/>
              </a:ext>
            </a:extLst>
          </p:cNvPr>
          <p:cNvCxnSpPr/>
          <p:nvPr/>
        </p:nvCxnSpPr>
        <p:spPr>
          <a:xfrm>
            <a:off x="8782050" y="6129786"/>
            <a:ext cx="11811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Прямокутник 51">
            <a:extLst>
              <a:ext uri="{FF2B5EF4-FFF2-40B4-BE49-F238E27FC236}">
                <a16:creationId xmlns:a16="http://schemas.microsoft.com/office/drawing/2014/main" id="{D240C54C-058C-0C49-2A53-D09244916EFA}"/>
              </a:ext>
            </a:extLst>
          </p:cNvPr>
          <p:cNvSpPr/>
          <p:nvPr/>
        </p:nvSpPr>
        <p:spPr>
          <a:xfrm>
            <a:off x="8372475" y="3114675"/>
            <a:ext cx="3486150" cy="9366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Controllers: Company, Category, Product, Order, User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53" name="Прямокутник 52">
            <a:extLst>
              <a:ext uri="{FF2B5EF4-FFF2-40B4-BE49-F238E27FC236}">
                <a16:creationId xmlns:a16="http://schemas.microsoft.com/office/drawing/2014/main" id="{E51284BF-1B32-32A0-2FD6-6E98B7D77182}"/>
              </a:ext>
            </a:extLst>
          </p:cNvPr>
          <p:cNvSpPr/>
          <p:nvPr/>
        </p:nvSpPr>
        <p:spPr>
          <a:xfrm>
            <a:off x="9077325" y="4272723"/>
            <a:ext cx="3086100" cy="594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View: Index, Create, Edit, Delete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54" name="Прямокутник 53">
            <a:extLst>
              <a:ext uri="{FF2B5EF4-FFF2-40B4-BE49-F238E27FC236}">
                <a16:creationId xmlns:a16="http://schemas.microsoft.com/office/drawing/2014/main" id="{09CD50BF-6874-A75F-8A29-24C961D3D328}"/>
              </a:ext>
            </a:extLst>
          </p:cNvPr>
          <p:cNvSpPr/>
          <p:nvPr/>
        </p:nvSpPr>
        <p:spPr>
          <a:xfrm>
            <a:off x="9782175" y="4977573"/>
            <a:ext cx="2247900" cy="594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Controllers: Home</a:t>
            </a:r>
            <a:endParaRPr lang="uk-UA" dirty="0">
              <a:solidFill>
                <a:schemeClr val="tx1"/>
              </a:solidFill>
            </a:endParaRPr>
          </a:p>
        </p:txBody>
      </p:sp>
      <p:sp>
        <p:nvSpPr>
          <p:cNvPr id="55" name="Прямокутник 54">
            <a:extLst>
              <a:ext uri="{FF2B5EF4-FFF2-40B4-BE49-F238E27FC236}">
                <a16:creationId xmlns:a16="http://schemas.microsoft.com/office/drawing/2014/main" id="{669D48FE-9B12-2AB0-6B7D-A9DD6A215A84}"/>
              </a:ext>
            </a:extLst>
          </p:cNvPr>
          <p:cNvSpPr/>
          <p:nvPr/>
        </p:nvSpPr>
        <p:spPr>
          <a:xfrm>
            <a:off x="9848850" y="5682674"/>
            <a:ext cx="2314575" cy="5720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View: Index, Create, Edit, Delete</a:t>
            </a:r>
            <a:endParaRPr lang="uk-U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445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F04D4974-195E-3988-360C-44D1423D4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1F2CEA-8735-4CB5-A8E4-796AAFC6E7DA}" type="datetime1">
              <a:rPr lang="uk-UA" smtClean="0"/>
              <a:t>27.05.2024</a:t>
            </a:fld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09A2CE1-95DB-190C-7B23-226C50D25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903" y="485776"/>
            <a:ext cx="9686193" cy="532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48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4228BD-900D-B0EB-D90D-FD0CBACE9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uk-UA" dirty="0"/>
              <a:t>Відображення даних у таблиці Категорій</a:t>
            </a:r>
          </a:p>
        </p:txBody>
      </p:sp>
      <p:pic>
        <p:nvPicPr>
          <p:cNvPr id="4" name="Рисунок 3" descr="Зображення, що містить текст, знімок екрана, Шрифт, число&#10;&#10;Автоматично згенерований опис">
            <a:extLst>
              <a:ext uri="{FF2B5EF4-FFF2-40B4-BE49-F238E27FC236}">
                <a16:creationId xmlns:a16="http://schemas.microsoft.com/office/drawing/2014/main" id="{23BF8F7F-0BB5-4AF5-B74F-F5B31D87B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894" y="2189897"/>
            <a:ext cx="8351569" cy="298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35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A51BB7-41D4-DFD7-BDF4-713CBA3D5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Відображення даних у таблиці Продуктів</a:t>
            </a:r>
          </a:p>
        </p:txBody>
      </p:sp>
      <p:pic>
        <p:nvPicPr>
          <p:cNvPr id="4" name="Рисунок 3" descr="Зображення, що містить текст, електроніка, знімок екрана, монітор&#10;&#10;Автоматично згенерований опис">
            <a:extLst>
              <a:ext uri="{FF2B5EF4-FFF2-40B4-BE49-F238E27FC236}">
                <a16:creationId xmlns:a16="http://schemas.microsoft.com/office/drawing/2014/main" id="{310093E0-1B7D-65CB-6AD5-291207695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992" y="1858077"/>
            <a:ext cx="6724015" cy="4468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14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10F6F2-B2B7-DEC2-C56E-E48BF8E1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Підключення до бази даних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46096E67-B17F-63C8-8627-E7F383D2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1C95A89-DE92-4CEC-84F2-B31945BCA6E4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CFD3A1-5CB6-96CA-FC71-788153C5C5FB}"/>
              </a:ext>
            </a:extLst>
          </p:cNvPr>
          <p:cNvSpPr txBox="1"/>
          <p:nvPr/>
        </p:nvSpPr>
        <p:spPr>
          <a:xfrm>
            <a:off x="904875" y="2413337"/>
            <a:ext cx="1121659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//</a:t>
            </a:r>
            <a:r>
              <a:rPr lang="en-US" dirty="0" err="1"/>
              <a:t>appsettings.json</a:t>
            </a:r>
            <a:endParaRPr lang="en-US" dirty="0"/>
          </a:p>
          <a:p>
            <a:r>
              <a:rPr lang="en-US" dirty="0"/>
              <a:t> "</a:t>
            </a:r>
            <a:r>
              <a:rPr lang="en-US" dirty="0" err="1"/>
              <a:t>AllowedHosts</a:t>
            </a:r>
            <a:r>
              <a:rPr lang="en-US" dirty="0"/>
              <a:t>": "*",</a:t>
            </a:r>
          </a:p>
          <a:p>
            <a:r>
              <a:rPr lang="en-US" dirty="0"/>
              <a:t>  "</a:t>
            </a:r>
            <a:r>
              <a:rPr lang="en-US" dirty="0" err="1"/>
              <a:t>ConnectionStrings</a:t>
            </a:r>
            <a:r>
              <a:rPr lang="en-US" dirty="0"/>
              <a:t>": {</a:t>
            </a:r>
          </a:p>
          <a:p>
            <a:r>
              <a:rPr lang="en-US" dirty="0"/>
              <a:t>    "</a:t>
            </a:r>
            <a:r>
              <a:rPr lang="en-US" dirty="0" err="1"/>
              <a:t>DefaultConnection</a:t>
            </a:r>
            <a:r>
              <a:rPr lang="en-US" dirty="0"/>
              <a:t>": "Server=</a:t>
            </a:r>
            <a:r>
              <a:rPr lang="en-US" dirty="0" err="1"/>
              <a:t>ADMIN;Database</a:t>
            </a:r>
            <a:r>
              <a:rPr lang="en-US" dirty="0"/>
              <a:t>=</a:t>
            </a:r>
            <a:r>
              <a:rPr lang="en-US" dirty="0" err="1"/>
              <a:t>Website;Trusted_Connection</a:t>
            </a:r>
            <a:r>
              <a:rPr lang="en-US" dirty="0"/>
              <a:t>=</a:t>
            </a:r>
            <a:r>
              <a:rPr lang="en-US" dirty="0" err="1"/>
              <a:t>True;TrustServerCertificate</a:t>
            </a:r>
            <a:r>
              <a:rPr lang="en-US" dirty="0"/>
              <a:t>=True"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510247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42842C-F0B0-E38F-5281-898EE9E1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286603"/>
            <a:ext cx="10736580" cy="1450757"/>
          </a:xfrm>
        </p:spPr>
        <p:txBody>
          <a:bodyPr>
            <a:normAutofit fontScale="90000"/>
          </a:bodyPr>
          <a:lstStyle/>
          <a:p>
            <a:pPr algn="just"/>
            <a:r>
              <a:rPr lang="uk-UA" dirty="0"/>
              <a:t>Сторінка для редагування/видалення елементів з таблиці Категорій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7F8FFD69-C838-6788-289C-3068342F2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1C95A89-DE92-4CEC-84F2-B31945BCA6E4}" type="datetime1">
              <a:rPr lang="uk-UA" smtClean="0"/>
              <a:t>27.05.2024</a:t>
            </a:fld>
            <a:endParaRPr lang="en-US" dirty="0"/>
          </a:p>
        </p:txBody>
      </p:sp>
      <p:pic>
        <p:nvPicPr>
          <p:cNvPr id="4" name="Рисунок 3" descr="Зображення, що містить текст, знімок екрана, Шрифт, число&#10;&#10;Автоматично згенерований опис">
            <a:extLst>
              <a:ext uri="{FF2B5EF4-FFF2-40B4-BE49-F238E27FC236}">
                <a16:creationId xmlns:a16="http://schemas.microsoft.com/office/drawing/2014/main" id="{A1D9C878-F22B-0B5E-4DC2-FB0CCF862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617" y="2162810"/>
            <a:ext cx="8982071" cy="338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77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32851D-D0EC-3352-34D3-E3491CC43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527" y="410428"/>
            <a:ext cx="10608945" cy="1450757"/>
          </a:xfrm>
        </p:spPr>
        <p:txBody>
          <a:bodyPr/>
          <a:lstStyle/>
          <a:p>
            <a:pPr algn="ctr"/>
            <a:r>
              <a:rPr lang="uk-UA" dirty="0"/>
              <a:t>Сторінка для створення категорій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52F6C498-CFAC-B4DF-9FBC-9C31E77C3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1C95A89-DE92-4CEC-84F2-B31945BCA6E4}" type="datetime1">
              <a:rPr lang="uk-UA" smtClean="0"/>
              <a:t>27.05.2024</a:t>
            </a:fld>
            <a:endParaRPr lang="en-US" dirty="0"/>
          </a:p>
        </p:txBody>
      </p:sp>
      <p:pic>
        <p:nvPicPr>
          <p:cNvPr id="4" name="Рисунок 3" descr="Зображення, що містить текст, Шрифт, знімок екрана&#10;&#10;Автоматично згенерований опис">
            <a:extLst>
              <a:ext uri="{FF2B5EF4-FFF2-40B4-BE49-F238E27FC236}">
                <a16:creationId xmlns:a16="http://schemas.microsoft.com/office/drawing/2014/main" id="{5377DCA9-BF1D-2855-9B3C-DA44DB079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12" y="2461578"/>
            <a:ext cx="8934976" cy="253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685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FB8A0-D203-7A7F-CE5A-8A0B231B5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286603"/>
            <a:ext cx="10507980" cy="1450757"/>
          </a:xfrm>
        </p:spPr>
        <p:txBody>
          <a:bodyPr/>
          <a:lstStyle/>
          <a:p>
            <a:r>
              <a:rPr lang="uk-UA" dirty="0"/>
              <a:t>Сторінка для створення продукту 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75F15EF-AE03-E4F4-C80C-D70CB7C21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1C95A89-DE92-4CEC-84F2-B31945BCA6E4}" type="datetime1">
              <a:rPr lang="uk-UA" smtClean="0"/>
              <a:t>27.05.2024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070E9EE-E8F6-7543-2AA2-0C61015C8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899" y="1891865"/>
            <a:ext cx="8067675" cy="431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61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99BBA2-BF81-5EBF-AB38-FDF8673B8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475" y="419953"/>
            <a:ext cx="10687050" cy="1504097"/>
          </a:xfrm>
        </p:spPr>
        <p:txBody>
          <a:bodyPr/>
          <a:lstStyle/>
          <a:p>
            <a:pPr algn="just"/>
            <a:r>
              <a:rPr lang="uk-UA" dirty="0"/>
              <a:t>Редагування/видалення даних в таблиці Продуктів:</a:t>
            </a:r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83945CF2-1343-8C1E-A1C0-8F505503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1C95A89-DE92-4CEC-84F2-B31945BCA6E4}" type="datetime1">
              <a:rPr lang="uk-UA" smtClean="0"/>
              <a:t>27.05.2024</a:t>
            </a:fld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626CEE-B376-CABD-8314-D62A1823AC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705" y="1995260"/>
            <a:ext cx="8135128" cy="39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47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845177BA-F12E-C225-A4F3-67A49697E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61F2CEA-8735-4CB5-A8E4-796AAFC6E7DA}" type="datetime1">
              <a:rPr lang="uk-UA" smtClean="0"/>
              <a:t>27.05.2024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5B9E12-8665-7503-B587-611E4D65FF5C}"/>
              </a:ext>
            </a:extLst>
          </p:cNvPr>
          <p:cNvSpPr txBox="1"/>
          <p:nvPr/>
        </p:nvSpPr>
        <p:spPr>
          <a:xfrm>
            <a:off x="1562100" y="428834"/>
            <a:ext cx="874395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uk-UA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Поле для введення назви продукту</a:t>
            </a: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&lt;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input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asp-for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Product.Title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class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form-control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border-0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shadow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/&gt;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uk-UA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Поле для введення опису</a:t>
            </a: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&lt;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textarea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asp-for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Product.Description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class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form-control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border-0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shadow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"&gt;&lt;/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textarea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&gt;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uk-UA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Поле для введення автора</a:t>
            </a: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&lt;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input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asp-for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Product.Author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class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form-control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border-0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shadow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/&gt;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uk-UA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Поле для введення ціни</a:t>
            </a: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&lt;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input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asp-for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Product.Price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class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form-control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border-0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shadow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/&gt;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uk-UA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Поле для вибору категорії</a:t>
            </a: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&lt;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select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asp-for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Product.CategoryId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asp-items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="@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Model.CategoryList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class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form-select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border-0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shadow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"&gt;&lt;/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select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&gt;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 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uk-UA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Поле для завантаження зображення продукту</a:t>
            </a:r>
            <a:r>
              <a:rPr lang="uk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Calibri" panose="020F0502020204030204" pitchFamily="34" charset="0"/>
              </a:rPr>
              <a:t>: 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&lt;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input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type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file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name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file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class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="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form-control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 border-0 </a:t>
            </a:r>
            <a:r>
              <a:rPr lang="uk-UA" sz="1800" dirty="0" err="1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shadow</a:t>
            </a:r>
            <a:r>
              <a:rPr lang="uk-UA" sz="1800" dirty="0"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alibri" panose="020F0502020204030204" pitchFamily="34" charset="0"/>
              </a:rPr>
              <a:t>" /&gt;</a:t>
            </a:r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870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193A96-5FD3-3677-3BA5-D5CB23132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Висновки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9C08CC-A608-33BE-523B-E94A123F9EDD}"/>
              </a:ext>
            </a:extLst>
          </p:cNvPr>
          <p:cNvSpPr txBox="1"/>
          <p:nvPr/>
        </p:nvSpPr>
        <p:spPr>
          <a:xfrm>
            <a:off x="1171575" y="2200275"/>
            <a:ext cx="10287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У цій курсовій роботі було представлено розробку веб-платформи для проведення IT-курсів, яка базується на сучасних технологіях та підходах до програмування. Основою платформи є ASP.NET </a:t>
            </a:r>
            <a:r>
              <a:rPr lang="uk-UA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Core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потужний та гнучкий фреймворк для створення веб-додатків, який забезпечує високу продуктивність та безпеку. Використання MVC контролерів дозволило ефективно розділити логіку програми на моделі, вигляди та контролери, що сприяє кращій організації коду та його подальшому розширенню.</a:t>
            </a:r>
          </a:p>
          <a:p>
            <a:pPr algn="just"/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Застосування </a:t>
            </a:r>
            <a:r>
              <a:rPr lang="uk-UA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Entity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Framework</a:t>
            </a:r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як ORM інструменту дало можливість абстрагуватися від конкретної бази даних та спростити роботу з даними, забезпечуючи ефективну взаємодію з базою даних та автоматизацію багатьох рутинних завдань.</a:t>
            </a:r>
          </a:p>
          <a:p>
            <a:r>
              <a:rPr lang="uk-UA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	У підсумку, розроблена платформа є ефективним інструментом для проведення IT-курсів, який відповідає сучасним вимогам до освітніх сервісів та може бути легко адаптований під різні навчальні потреби.</a:t>
            </a:r>
          </a:p>
          <a:p>
            <a:endParaRPr lang="uk-UA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5964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67B161-A9DC-DE3E-ECAB-A00C555A2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5" y="1978243"/>
            <a:ext cx="10058400" cy="1450757"/>
          </a:xfrm>
        </p:spPr>
        <p:txBody>
          <a:bodyPr/>
          <a:lstStyle/>
          <a:p>
            <a:pPr algn="ctr"/>
            <a:r>
              <a:rPr lang="uk-UA" dirty="0"/>
              <a:t>Дякую за увагу!</a:t>
            </a:r>
          </a:p>
        </p:txBody>
      </p:sp>
    </p:spTree>
    <p:extLst>
      <p:ext uri="{BB962C8B-B14F-4D97-AF65-F5344CB8AC3E}">
        <p14:creationId xmlns:p14="http://schemas.microsoft.com/office/powerpoint/2010/main" val="1283024314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115_TF56160789" id="{338CDFFA-6E0B-4EAE-98BA-0FA535F408CC}" vid="{598B8DAB-B99F-41D6-934E-B509BA09E809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{5857CFF2-DC1D-4243-8469-1ECAB9345303}tf56160789_win32</Template>
  <TotalTime>658</TotalTime>
  <Words>542</Words>
  <Application>Microsoft Office PowerPoint</Application>
  <PresentationFormat>Широкий екран</PresentationFormat>
  <Paragraphs>73</Paragraphs>
  <Slides>17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17</vt:i4>
      </vt:variant>
    </vt:vector>
  </HeadingPairs>
  <TitlesOfParts>
    <vt:vector size="24" baseType="lpstr">
      <vt:lpstr>Bookman Old Style</vt:lpstr>
      <vt:lpstr>Calibri</vt:lpstr>
      <vt:lpstr>Century Gothic</vt:lpstr>
      <vt:lpstr>Consolas</vt:lpstr>
      <vt:lpstr>Franklin Gothic Book</vt:lpstr>
      <vt:lpstr>Times New Roman</vt:lpstr>
      <vt:lpstr>1_RetrospectVTI</vt:lpstr>
      <vt:lpstr>Розробка веб платформи для проведення IT-курсів</vt:lpstr>
      <vt:lpstr>Проблема та постановка задачі</vt:lpstr>
      <vt:lpstr>Архітектура системи</vt:lpstr>
      <vt:lpstr>Існуючі платформи</vt:lpstr>
      <vt:lpstr>Використані технології</vt:lpstr>
      <vt:lpstr>Презентація PowerPoint</vt:lpstr>
      <vt:lpstr>Презентація PowerPoint</vt:lpstr>
      <vt:lpstr>Відображення даних у таблиці Категорій</vt:lpstr>
      <vt:lpstr>Відображення даних у таблиці Продуктів</vt:lpstr>
      <vt:lpstr>Підключення до бази даних</vt:lpstr>
      <vt:lpstr>Сторінка для редагування/видалення елементів з таблиці Категорій</vt:lpstr>
      <vt:lpstr>Сторінка для створення категорій</vt:lpstr>
      <vt:lpstr>Сторінка для створення продукту </vt:lpstr>
      <vt:lpstr>Редагування/видалення даних в таблиці Продуктів:</vt:lpstr>
      <vt:lpstr>Презентація PowerPoint</vt:lpstr>
      <vt:lpstr>Висновки</vt:lpstr>
      <vt:lpstr>Дякую за увагу!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Розробка веб платформи для проведення IT-курсів</dc:title>
  <dc:creator>Піняга Володимир</dc:creator>
  <cp:lastModifiedBy>Піняга Володимир</cp:lastModifiedBy>
  <cp:revision>2</cp:revision>
  <dcterms:created xsi:type="dcterms:W3CDTF">2024-05-26T19:34:00Z</dcterms:created>
  <dcterms:modified xsi:type="dcterms:W3CDTF">2024-05-28T05:35:57Z</dcterms:modified>
</cp:coreProperties>
</file>